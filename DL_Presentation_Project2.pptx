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75" r:id="rId5"/>
    <p:sldId id="276" r:id="rId6"/>
    <p:sldId id="271" r:id="rId7"/>
    <p:sldId id="272" r:id="rId8"/>
    <p:sldId id="277" r:id="rId9"/>
    <p:sldId id="273" r:id="rId10"/>
    <p:sldId id="274" r:id="rId11"/>
  </p:sldIdLst>
  <p:sldSz cx="18288000" cy="10287000"/>
  <p:notesSz cx="6858000" cy="9144000"/>
  <p:embeddedFontLst>
    <p:embeddedFont>
      <p:font typeface="Telegraf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416465" y="879937"/>
            <a:ext cx="7453924" cy="9407063"/>
          </a:xfrm>
          <a:custGeom>
            <a:avLst/>
            <a:gdLst/>
            <a:ahLst/>
            <a:cxnLst/>
            <a:rect l="l" t="t" r="r" b="b"/>
            <a:pathLst>
              <a:path w="7453924" h="9407063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518" t="-3109" r="-13735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3212033"/>
            <a:ext cx="759757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GB" sz="6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Deep Learning Task</a:t>
            </a:r>
            <a:endParaRPr lang="en-US" sz="6000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09321" y="1508729"/>
            <a:ext cx="2153079" cy="601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4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Neural Network and Deep Learning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546829"/>
            <a:ext cx="607033" cy="486312"/>
          </a:xfrm>
          <a:custGeom>
            <a:avLst/>
            <a:gdLst/>
            <a:ahLst/>
            <a:cxnLst/>
            <a:rect l="l" t="t" r="r" b="b"/>
            <a:pathLst>
              <a:path w="607033" h="486312">
                <a:moveTo>
                  <a:pt x="0" y="0"/>
                </a:moveTo>
                <a:lnTo>
                  <a:pt x="607033" y="0"/>
                </a:lnTo>
                <a:lnTo>
                  <a:pt x="607033" y="486312"/>
                </a:lnTo>
                <a:lnTo>
                  <a:pt x="0" y="48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028700" y="6783015"/>
            <a:ext cx="8053372" cy="116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07"/>
              </a:lnSpc>
            </a:pP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Full name: Quynh Pham </a:t>
            </a:r>
            <a:r>
              <a:rPr lang="en-US" sz="2219" spc="93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Thi</a:t>
            </a: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 Ngoc</a:t>
            </a:r>
          </a:p>
          <a:p>
            <a:pPr marL="0" lvl="0" indent="0" algn="l">
              <a:lnSpc>
                <a:spcPts val="3107"/>
              </a:lnSpc>
            </a:pPr>
            <a:r>
              <a:rPr lang="en-US" sz="2219" spc="93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Registration Number: 2501168</a:t>
            </a:r>
          </a:p>
          <a:p>
            <a:pPr marL="0" lvl="0" indent="0" algn="l">
              <a:lnSpc>
                <a:spcPts val="3107"/>
              </a:lnSpc>
            </a:pPr>
            <a:endParaRPr lang="en-US" sz="2219" u="none" strike="noStrike" spc="93" dirty="0">
              <a:solidFill>
                <a:srgbClr val="FFFFFF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070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552894" y="712155"/>
            <a:ext cx="12307546" cy="207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1: PRE-PROCESSING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1. Data Selection &amp; Integration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83520" y="723901"/>
            <a:ext cx="570740" cy="6646180"/>
            <a:chOff x="-299" y="-966137"/>
            <a:chExt cx="150318" cy="1750434"/>
          </a:xfrm>
        </p:grpSpPr>
        <p:sp>
          <p:nvSpPr>
            <p:cNvPr id="7" name="Freeform 7"/>
            <p:cNvSpPr/>
            <p:nvPr/>
          </p:nvSpPr>
          <p:spPr>
            <a:xfrm>
              <a:off x="-299" y="-388552"/>
              <a:ext cx="150019" cy="1172849"/>
            </a:xfrm>
            <a:custGeom>
              <a:avLst/>
              <a:gdLst/>
              <a:ahLst/>
              <a:cxnLst/>
              <a:rect l="l" t="t" r="r" b="b"/>
              <a:pathLst>
                <a:path w="150019" h="1172849">
                  <a:moveTo>
                    <a:pt x="75010" y="0"/>
                  </a:moveTo>
                  <a:lnTo>
                    <a:pt x="75010" y="0"/>
                  </a:lnTo>
                  <a:cubicBezTo>
                    <a:pt x="94903" y="0"/>
                    <a:pt x="113982" y="7903"/>
                    <a:pt x="128049" y="21970"/>
                  </a:cubicBezTo>
                  <a:cubicBezTo>
                    <a:pt x="142117" y="36037"/>
                    <a:pt x="150019" y="55116"/>
                    <a:pt x="150019" y="75010"/>
                  </a:cubicBezTo>
                  <a:lnTo>
                    <a:pt x="150019" y="1097839"/>
                  </a:lnTo>
                  <a:cubicBezTo>
                    <a:pt x="150019" y="1139266"/>
                    <a:pt x="116436" y="1172849"/>
                    <a:pt x="75010" y="1172849"/>
                  </a:cubicBezTo>
                  <a:lnTo>
                    <a:pt x="75010" y="1172849"/>
                  </a:lnTo>
                  <a:cubicBezTo>
                    <a:pt x="33583" y="1172849"/>
                    <a:pt x="0" y="1139266"/>
                    <a:pt x="0" y="1097839"/>
                  </a:cubicBezTo>
                  <a:lnTo>
                    <a:pt x="0" y="75010"/>
                  </a:lnTo>
                  <a:cubicBezTo>
                    <a:pt x="0" y="33583"/>
                    <a:pt x="33583" y="0"/>
                    <a:pt x="750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66137"/>
              <a:ext cx="150019" cy="1470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r>
                <a:rPr lang="en-US" sz="2000" u="none" strike="noStrike" spc="32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1</a:t>
              </a: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r>
                <a:rPr lang="en-US" sz="2000" u="none" strike="noStrike" spc="32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2</a:t>
              </a: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r>
                <a:rPr lang="en-US" sz="2000" spc="32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3</a:t>
              </a: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0" lvl="0" indent="0" algn="ctr">
                <a:lnSpc>
                  <a:spcPts val="2800"/>
                </a:lnSpc>
              </a:pPr>
              <a:endParaRPr lang="en-US" sz="2000" u="none" strike="noStrike" spc="32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85534" y="3238500"/>
            <a:ext cx="9373065" cy="1089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Data Sources: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train.csv and test.csv: transaction data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store.csv: store information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64649-4932-4419-1D67-0EB18327672E}"/>
              </a:ext>
            </a:extLst>
          </p:cNvPr>
          <p:cNvSpPr txBox="1"/>
          <p:nvPr/>
        </p:nvSpPr>
        <p:spPr>
          <a:xfrm>
            <a:off x="2285535" y="4610100"/>
            <a:ext cx="15926265" cy="1089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Integration Method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Left Merge base on Store ID to merg</a:t>
            </a:r>
            <a:r>
              <a:rPr lang="en-US" sz="30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e information from </a:t>
            </a: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store.csv to Train and  Test.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en-US" sz="3000" u="none" strike="noStrike" spc="32" dirty="0">
              <a:solidFill>
                <a:srgbClr val="FFFFFF"/>
              </a:solidFill>
              <a:latin typeface="+mj-lt"/>
              <a:ea typeface="Telegraf"/>
              <a:cs typeface="Telegraf"/>
              <a:sym typeface="Telegraf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BA96E-5BD0-81C6-A337-61D94D11E1C8}"/>
              </a:ext>
            </a:extLst>
          </p:cNvPr>
          <p:cNvSpPr txBox="1"/>
          <p:nvPr/>
        </p:nvSpPr>
        <p:spPr>
          <a:xfrm>
            <a:off x="2238136" y="5829300"/>
            <a:ext cx="15926265" cy="3602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Unused Data: </a:t>
            </a:r>
            <a:r>
              <a:rPr lang="en-US" sz="3000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Customers. Why?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GB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This variable is not available in the future (Test set) </a:t>
            </a:r>
          </a:p>
          <a:p>
            <a:pPr marL="457200" indent="-457200" algn="l">
              <a:lnSpc>
                <a:spcPts val="2800"/>
              </a:lnSpc>
              <a:buFont typeface="Wingdings" panose="05000000000000000000" pitchFamily="2" charset="2"/>
              <a:buChar char="è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This task is simpler because the test file already provides the inputs, while real-world problems require the model to extract features before predicting.</a:t>
            </a:r>
          </a:p>
          <a:p>
            <a:pPr marL="457200" indent="-457200" algn="l">
              <a:lnSpc>
                <a:spcPts val="2800"/>
              </a:lnSpc>
              <a:buFont typeface="Wingdings" panose="05000000000000000000" pitchFamily="2" charset="2"/>
              <a:buChar char="è"/>
            </a:pPr>
            <a:endParaRPr lang="en-US" sz="3000" u="none" strike="noStrike" spc="32" dirty="0">
              <a:solidFill>
                <a:srgbClr val="FFFFFF"/>
              </a:solidFill>
              <a:latin typeface="+mj-lt"/>
              <a:ea typeface="Telegraf"/>
              <a:cs typeface="Telegraf"/>
              <a:sym typeface="Telegraf"/>
            </a:endParaRP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Redundancy (Multicollinearity): Customers is highly correlated with historical Sales. Using both creates Multicollinearity and unnecessary complexity.</a:t>
            </a: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endParaRPr lang="en-US" sz="3000" u="none" strike="noStrike" spc="32" dirty="0">
              <a:solidFill>
                <a:srgbClr val="FFFFFF"/>
              </a:solidFill>
              <a:latin typeface="+mj-lt"/>
              <a:ea typeface="Telegraf"/>
              <a:cs typeface="Telegraf"/>
              <a:sym typeface="Telegraf"/>
            </a:endParaRPr>
          </a:p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30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Information Richness: Historical Sales is a richer feature, as it already includes both the customer count and the average amount spent.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F6F10CD-360D-AFFB-D17D-63B5A6480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FBD0-4814-A953-A4EC-726C46C7A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74DEC6-4BEB-6938-3B1F-B625D3F2960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831338C-B3DB-A77D-C76A-E0967F95F896}"/>
              </a:ext>
            </a:extLst>
          </p:cNvPr>
          <p:cNvSpPr txBox="1"/>
          <p:nvPr/>
        </p:nvSpPr>
        <p:spPr>
          <a:xfrm>
            <a:off x="1552894" y="712155"/>
            <a:ext cx="12307546" cy="207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1: PRE-PROCESSING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2. Data Cleaning &amp; Feature Engineering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575F193-8625-A4FF-8400-D5E4412D8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76C8A0-630D-65C2-91B1-FCB0B86B704B}"/>
              </a:ext>
            </a:extLst>
          </p:cNvPr>
          <p:cNvGrpSpPr/>
          <p:nvPr/>
        </p:nvGrpSpPr>
        <p:grpSpPr>
          <a:xfrm>
            <a:off x="1557442" y="2465135"/>
            <a:ext cx="16250651" cy="7173884"/>
            <a:chOff x="-207432" y="-76200"/>
            <a:chExt cx="3658853" cy="22692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5E1EB5E-0D9B-4443-5695-7D991BFCEB51}"/>
                </a:ext>
              </a:extLst>
            </p:cNvPr>
            <p:cNvSpPr/>
            <p:nvPr/>
          </p:nvSpPr>
          <p:spPr>
            <a:xfrm>
              <a:off x="-207432" y="50258"/>
              <a:ext cx="3658853" cy="2142809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r>
                <a:rPr lang="en-GB" sz="2800" b="1" dirty="0">
                  <a:solidFill>
                    <a:schemeClr val="bg1"/>
                  </a:solidFill>
                </a:rPr>
                <a:t>1. Handling Missing Values: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dirty="0" err="1">
                  <a:solidFill>
                    <a:schemeClr val="bg1"/>
                  </a:solidFill>
                </a:rPr>
                <a:t>CompetitionDistance</a:t>
              </a:r>
              <a:r>
                <a:rPr lang="en-GB" sz="2800" dirty="0">
                  <a:solidFill>
                    <a:schemeClr val="bg1"/>
                  </a:solidFill>
                </a:rPr>
                <a:t>: Median? Why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chemeClr val="bg1"/>
                  </a:solidFill>
                </a:rPr>
                <a:t>Max value: 75860 | Min: 20 | Mean ~ 5404 </a:t>
              </a:r>
              <a:r>
                <a:rPr lang="en-GB" sz="2800" dirty="0">
                  <a:solidFill>
                    <a:schemeClr val="bg1"/>
                  </a:solidFill>
                  <a:sym typeface="Wingdings" panose="05000000000000000000" pitchFamily="2" charset="2"/>
                </a:rPr>
                <a:t> Median is better than Mean ( because of outliers)</a:t>
              </a:r>
              <a:endParaRPr lang="en-GB" sz="28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chemeClr val="bg1"/>
                  </a:solidFill>
                </a:rPr>
                <a:t>Competition/Promo2 Dates: 0 ((Assume no information = no competitors/promotions).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chemeClr val="bg1"/>
                  </a:solidFill>
                </a:rPr>
                <a:t>Open (in Test): 1 (Assume stores are open to avoid loss of forecast data).</a:t>
              </a:r>
            </a:p>
            <a:p>
              <a:endParaRPr lang="en-GB" sz="2800" dirty="0">
                <a:solidFill>
                  <a:schemeClr val="bg1"/>
                </a:solidFill>
              </a:endParaRPr>
            </a:p>
            <a:p>
              <a:endParaRPr lang="en-GB" sz="2800" dirty="0">
                <a:solidFill>
                  <a:schemeClr val="bg1"/>
                </a:solidFill>
              </a:endParaRPr>
            </a:p>
            <a:p>
              <a:endParaRPr lang="en-GB" sz="2800" dirty="0">
                <a:solidFill>
                  <a:schemeClr val="bg1"/>
                </a:solidFill>
              </a:endParaRPr>
            </a:p>
            <a:p>
              <a:endParaRPr lang="en-GB" sz="2800" dirty="0">
                <a:solidFill>
                  <a:schemeClr val="bg1"/>
                </a:solidFill>
              </a:endParaRPr>
            </a:p>
            <a:p>
              <a:endParaRPr lang="en-GB" sz="28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ADBC527D-BA43-B512-FF00-3F0C9B70AA8E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203EC56-9965-45EC-3D6E-CED7336A4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66" y="5172535"/>
            <a:ext cx="79248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0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5B24-9CC4-C906-EF59-A6CAA56F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AAE484-3432-C8E2-B4BA-3810E5A5E19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38A77F4-ECD6-04D6-E9ED-FB1D23A71A44}"/>
              </a:ext>
            </a:extLst>
          </p:cNvPr>
          <p:cNvSpPr txBox="1"/>
          <p:nvPr/>
        </p:nvSpPr>
        <p:spPr>
          <a:xfrm>
            <a:off x="1552894" y="712155"/>
            <a:ext cx="12307546" cy="207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1: PRE-PROCESSING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2. Data Cleaning &amp; Feature Engineering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9E0829-2107-6301-43BB-9D182CFDA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129AE2-561B-DAB6-FDFC-8F1070480396}"/>
              </a:ext>
            </a:extLst>
          </p:cNvPr>
          <p:cNvGrpSpPr/>
          <p:nvPr/>
        </p:nvGrpSpPr>
        <p:grpSpPr>
          <a:xfrm>
            <a:off x="1557442" y="2465135"/>
            <a:ext cx="16250651" cy="5650165"/>
            <a:chOff x="-207432" y="-76200"/>
            <a:chExt cx="3658853" cy="1787279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71A0756-6EAB-B07E-5B04-54C714BE7098}"/>
                </a:ext>
              </a:extLst>
            </p:cNvPr>
            <p:cNvSpPr/>
            <p:nvPr/>
          </p:nvSpPr>
          <p:spPr>
            <a:xfrm>
              <a:off x="-207432" y="50258"/>
              <a:ext cx="3658853" cy="1660821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GB" sz="2800" dirty="0">
                <a:solidFill>
                  <a:schemeClr val="bg1"/>
                </a:solidFill>
              </a:endParaRPr>
            </a:p>
            <a:p>
              <a:r>
                <a:rPr lang="en-GB" sz="2800" b="1" dirty="0">
                  <a:solidFill>
                    <a:schemeClr val="bg1"/>
                  </a:solidFill>
                </a:rPr>
                <a:t>2. Feature Engineering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chemeClr val="bg1"/>
                  </a:solidFill>
                </a:rPr>
                <a:t>Time Decomposition: Change Date to Year, Month, Day, </a:t>
              </a:r>
              <a:r>
                <a:rPr lang="en-GB" sz="2800" dirty="0" err="1">
                  <a:solidFill>
                    <a:schemeClr val="bg1"/>
                  </a:solidFill>
                </a:rPr>
                <a:t>DayOfWeek</a:t>
              </a:r>
              <a:r>
                <a:rPr lang="en-GB" sz="2800" dirty="0">
                  <a:solidFill>
                    <a:schemeClr val="bg1"/>
                  </a:solidFill>
                </a:rPr>
                <a:t>, </a:t>
              </a:r>
              <a:r>
                <a:rPr lang="en-GB" sz="2800" dirty="0" err="1">
                  <a:solidFill>
                    <a:schemeClr val="bg1"/>
                  </a:solidFill>
                </a:rPr>
                <a:t>WeekOfYear</a:t>
              </a:r>
              <a:r>
                <a:rPr lang="en-GB" sz="2800" dirty="0">
                  <a:solidFill>
                    <a:schemeClr val="bg1"/>
                  </a:solidFill>
                </a:rPr>
                <a:t> so that the model can capture cyclicality/seasonality.</a:t>
              </a:r>
            </a:p>
            <a:p>
              <a:r>
                <a:rPr lang="en-US" sz="2800" i="1" dirty="0">
                  <a:solidFill>
                    <a:schemeClr val="bg1"/>
                  </a:solidFill>
                </a:rPr>
                <a:t>	"Ah, it seems like every December Sunday brings in tons of customers!“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dirty="0" err="1">
                  <a:solidFill>
                    <a:schemeClr val="bg1"/>
                  </a:solidFill>
                </a:rPr>
                <a:t>CompetitionOpen</a:t>
              </a:r>
              <a:r>
                <a:rPr lang="en-GB" sz="2800" dirty="0">
                  <a:solidFill>
                    <a:schemeClr val="bg1"/>
                  </a:solidFill>
                </a:rPr>
                <a:t>: Calculate the time (number of months) since competitors opened to measure competitive pressure.</a:t>
              </a:r>
            </a:p>
            <a:p>
              <a:endParaRPr lang="en-GB" sz="2800" dirty="0">
                <a:solidFill>
                  <a:schemeClr val="bg1"/>
                </a:solidFill>
              </a:endParaRPr>
            </a:p>
            <a:p>
              <a:r>
                <a:rPr lang="en-GB" sz="2800" b="1" dirty="0">
                  <a:solidFill>
                    <a:schemeClr val="bg1"/>
                  </a:solidFill>
                </a:rPr>
                <a:t>3. Target Transformation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Apply Log (1+x) (Natural Logarithm) to the Sales column. 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Helps the distribution of sales become more standard, helping the Neural Network converge faster and more stably. For Example…….</a:t>
              </a:r>
            </a:p>
            <a:p>
              <a:endParaRPr lang="en-GB" sz="28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E3DA3CE1-2C8F-BFA8-A2F5-55B2533F3889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9081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E442-18E0-C5FE-07ED-065B8F6AE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D59E6D-ACF2-803E-A2D5-C0E67DB438A7}"/>
              </a:ext>
            </a:extLst>
          </p:cNvPr>
          <p:cNvSpPr/>
          <p:nvPr/>
        </p:nvSpPr>
        <p:spPr>
          <a:xfrm flipH="1">
            <a:off x="0" y="39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3281FCF-6A65-9B9E-81EB-BCFD921143B2}"/>
              </a:ext>
            </a:extLst>
          </p:cNvPr>
          <p:cNvSpPr txBox="1"/>
          <p:nvPr/>
        </p:nvSpPr>
        <p:spPr>
          <a:xfrm>
            <a:off x="1552894" y="712155"/>
            <a:ext cx="12307546" cy="207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1: PRE-PROCESSING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2. Data Cleaning &amp; Feature Engineering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7AE7DB1-B28B-D2DF-2E52-B3EBCC07C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1993B5-E33B-146A-CF7C-7847E37B1827}"/>
              </a:ext>
            </a:extLst>
          </p:cNvPr>
          <p:cNvGrpSpPr/>
          <p:nvPr/>
        </p:nvGrpSpPr>
        <p:grpSpPr>
          <a:xfrm>
            <a:off x="1552894" y="2547016"/>
            <a:ext cx="16250651" cy="4806284"/>
            <a:chOff x="-207432" y="-76200"/>
            <a:chExt cx="3658853" cy="1739072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357A949-4DBF-D35B-0296-191EC17E8DA1}"/>
                </a:ext>
              </a:extLst>
            </p:cNvPr>
            <p:cNvSpPr/>
            <p:nvPr/>
          </p:nvSpPr>
          <p:spPr>
            <a:xfrm>
              <a:off x="-207432" y="50258"/>
              <a:ext cx="3658853" cy="1612614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GB" sz="28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3675A877-5D23-E841-56A1-79234D93F176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DE37C603-30DB-103B-718E-5B67F997C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170009"/>
            <a:ext cx="12315038" cy="235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Example: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Store A: Actual 100, Predicted 110 (Error: 10 units, but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10%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deviation).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Store B: Actual 100,000, Predicted 100,010 (Error: 10 units, but only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0.01%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deviation).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Treating these errors equally is unfair. The Log transformation compresses the scale,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forcing the model to minimize the percentage difference rather than the absolute difference,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ensuring fairness across both small and large stores.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5202FF1-227B-D127-D5F9-A75146B6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779" y="6044252"/>
            <a:ext cx="135951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Numerical Stability (log1p):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We use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log(sales + 1)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instead of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log(sales)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 handle cases where Sales = 0. </a:t>
            </a:r>
          </a:p>
        </p:txBody>
      </p:sp>
    </p:spTree>
    <p:extLst>
      <p:ext uri="{BB962C8B-B14F-4D97-AF65-F5344CB8AC3E}">
        <p14:creationId xmlns:p14="http://schemas.microsoft.com/office/powerpoint/2010/main" val="102773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A8832-DE4F-13BD-AAFF-BE1F2661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E1445F-7F0C-6640-04B6-5DFBE90CE16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06E7901-0D55-68E2-F288-406C4C32ACE5}"/>
              </a:ext>
            </a:extLst>
          </p:cNvPr>
          <p:cNvSpPr txBox="1"/>
          <p:nvPr/>
        </p:nvSpPr>
        <p:spPr>
          <a:xfrm>
            <a:off x="1552894" y="712155"/>
            <a:ext cx="12307546" cy="207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5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1: PRE-PROCESSING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3. Robust Encoding Strategy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E1CFDF5-074A-2DCD-A6EF-D1DBD8CF0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E3EAE5-E196-0241-67C1-E20307DC4541}"/>
              </a:ext>
            </a:extLst>
          </p:cNvPr>
          <p:cNvGrpSpPr/>
          <p:nvPr/>
        </p:nvGrpSpPr>
        <p:grpSpPr>
          <a:xfrm>
            <a:off x="1552894" y="2465135"/>
            <a:ext cx="16250651" cy="5356728"/>
            <a:chOff x="-208456" y="-76200"/>
            <a:chExt cx="3658853" cy="169445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47F7552-F747-9E12-6DCF-3E980F3B829F}"/>
                </a:ext>
              </a:extLst>
            </p:cNvPr>
            <p:cNvSpPr/>
            <p:nvPr/>
          </p:nvSpPr>
          <p:spPr>
            <a:xfrm>
              <a:off x="-208456" y="255229"/>
              <a:ext cx="3658853" cy="1363029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b="1" dirty="0">
                  <a:solidFill>
                    <a:schemeClr val="bg1"/>
                  </a:solidFill>
                </a:rPr>
                <a:t>The Problem: </a:t>
              </a:r>
              <a:r>
                <a:rPr lang="en-GB" sz="2800" dirty="0">
                  <a:solidFill>
                    <a:schemeClr val="bg1"/>
                  </a:solidFill>
                </a:rPr>
                <a:t>Automatic Label Encoding (</a:t>
              </a:r>
              <a:r>
                <a:rPr lang="en-GB" sz="2800" dirty="0" err="1">
                  <a:solidFill>
                    <a:schemeClr val="bg1"/>
                  </a:solidFill>
                </a:rPr>
                <a:t>cat.codes</a:t>
              </a:r>
              <a:r>
                <a:rPr lang="en-GB" sz="2800" dirty="0">
                  <a:solidFill>
                    <a:schemeClr val="bg1"/>
                  </a:solidFill>
                </a:rPr>
                <a:t>) causes a phase difference between Train and Test (For example, August in Test is misunderstood as January in Train). W</a:t>
              </a:r>
              <a:r>
                <a:rPr lang="en-US" sz="2800" dirty="0" err="1">
                  <a:solidFill>
                    <a:schemeClr val="bg1"/>
                  </a:solidFill>
                </a:rPr>
                <a:t>hatever</a:t>
              </a:r>
              <a:r>
                <a:rPr lang="en-US" sz="2800" dirty="0">
                  <a:solidFill>
                    <a:schemeClr val="bg1"/>
                  </a:solidFill>
                </a:rPr>
                <a:t> appears first gets assigned 0, so we need to perform manual mapping.</a:t>
              </a:r>
              <a:endParaRPr lang="en-GB" sz="28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b="1" dirty="0">
                  <a:solidFill>
                    <a:schemeClr val="bg1"/>
                  </a:solidFill>
                </a:rPr>
                <a:t>The Solution</a:t>
              </a:r>
              <a:r>
                <a:rPr lang="en-GB" sz="2800" dirty="0">
                  <a:solidFill>
                    <a:schemeClr val="bg1"/>
                  </a:solidFill>
                </a:rPr>
                <a:t>: Manual Fixed Mapping: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	Set up manual mapping dictionaries for: </a:t>
              </a:r>
              <a:r>
                <a:rPr lang="en-GB" sz="2800" dirty="0" err="1">
                  <a:solidFill>
                    <a:schemeClr val="bg1"/>
                  </a:solidFill>
                </a:rPr>
                <a:t>StateHoliday</a:t>
              </a:r>
              <a:r>
                <a:rPr lang="en-GB" sz="2800" dirty="0">
                  <a:solidFill>
                    <a:schemeClr val="bg1"/>
                  </a:solidFill>
                </a:rPr>
                <a:t>, </a:t>
              </a:r>
              <a:r>
                <a:rPr lang="en-GB" sz="2800" dirty="0" err="1">
                  <a:solidFill>
                    <a:schemeClr val="bg1"/>
                  </a:solidFill>
                </a:rPr>
                <a:t>StoreType</a:t>
              </a:r>
              <a:r>
                <a:rPr lang="en-GB" sz="2800" dirty="0">
                  <a:solidFill>
                    <a:schemeClr val="bg1"/>
                  </a:solidFill>
                </a:rPr>
                <a:t>, Assortment, </a:t>
              </a:r>
              <a:r>
                <a:rPr lang="en-GB" sz="2800" dirty="0" err="1">
                  <a:solidFill>
                    <a:schemeClr val="bg1"/>
                  </a:solidFill>
                </a:rPr>
                <a:t>PromoInterval</a:t>
              </a:r>
              <a:r>
                <a:rPr lang="en-GB" sz="2800" dirty="0">
                  <a:solidFill>
                    <a:schemeClr val="bg1"/>
                  </a:solidFill>
                </a:rPr>
                <a:t>.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	Normalize Year, Month, Store ID to integer form starting from 0 (Zero-based indexing).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800" b="1" dirty="0">
                  <a:solidFill>
                    <a:schemeClr val="bg1"/>
                  </a:solidFill>
                </a:rPr>
                <a:t>Normalization</a:t>
              </a:r>
              <a:r>
                <a:rPr lang="en-GB" sz="2800" dirty="0">
                  <a:solidFill>
                    <a:schemeClr val="bg1"/>
                  </a:solidFill>
                </a:rPr>
                <a:t>:</a:t>
              </a:r>
            </a:p>
            <a:p>
              <a:r>
                <a:rPr lang="en-GB" sz="2800" dirty="0">
                  <a:solidFill>
                    <a:schemeClr val="bg1"/>
                  </a:solidFill>
                </a:rPr>
                <a:t>	Use </a:t>
              </a:r>
              <a:r>
                <a:rPr lang="en-GB" sz="2800" dirty="0" err="1">
                  <a:solidFill>
                    <a:schemeClr val="bg1"/>
                  </a:solidFill>
                </a:rPr>
                <a:t>StandardScaler</a:t>
              </a:r>
              <a:r>
                <a:rPr lang="en-GB" sz="2800" dirty="0">
                  <a:solidFill>
                    <a:schemeClr val="bg1"/>
                  </a:solidFill>
                </a:rPr>
                <a:t> for continuous variables (</a:t>
              </a:r>
              <a:r>
                <a:rPr lang="en-GB" sz="2800" dirty="0" err="1">
                  <a:solidFill>
                    <a:schemeClr val="bg1"/>
                  </a:solidFill>
                </a:rPr>
                <a:t>CompetitionDistance</a:t>
              </a:r>
              <a:r>
                <a:rPr lang="en-GB" sz="2800" dirty="0">
                  <a:solidFill>
                    <a:schemeClr val="bg1"/>
                  </a:solidFill>
                </a:rPr>
                <a:t>, Day, etc.) to bring them to the same scale (mean=0, std=1), optimizing for Gradient Descent.</a:t>
              </a: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DFD22262-83EA-048A-A03F-9D0D7CFC9C0A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0004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98562-C85E-7E92-554C-19FA7E10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A975E8-5628-029A-5E2A-2A1016CE264F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794C399-A123-453F-51D0-19427721EDE3}"/>
              </a:ext>
            </a:extLst>
          </p:cNvPr>
          <p:cNvSpPr txBox="1"/>
          <p:nvPr/>
        </p:nvSpPr>
        <p:spPr>
          <a:xfrm>
            <a:off x="1552893" y="712155"/>
            <a:ext cx="16250651" cy="204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45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2: DEEP NEURAL NETWORK ARCHITECTURE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Why this Architecture?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75A9CBF-3DAA-3291-CA08-E5976A92B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359D28-219B-1BCF-3D56-F05054071419}"/>
              </a:ext>
            </a:extLst>
          </p:cNvPr>
          <p:cNvGrpSpPr/>
          <p:nvPr/>
        </p:nvGrpSpPr>
        <p:grpSpPr>
          <a:xfrm>
            <a:off x="1552894" y="2465135"/>
            <a:ext cx="16250651" cy="7478965"/>
            <a:chOff x="-208456" y="-76200"/>
            <a:chExt cx="3658853" cy="236577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8FAEF65-1C26-D83A-3881-4E5C02095A24}"/>
                </a:ext>
              </a:extLst>
            </p:cNvPr>
            <p:cNvSpPr/>
            <p:nvPr/>
          </p:nvSpPr>
          <p:spPr>
            <a:xfrm>
              <a:off x="-208456" y="255229"/>
              <a:ext cx="3658853" cy="2034342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700" dirty="0">
                  <a:solidFill>
                    <a:schemeClr val="bg1"/>
                  </a:solidFill>
                </a:rPr>
                <a:t>Model Type: Feed-Forward Neural Network (FFNN) combined with Entity Embeddings.</a:t>
              </a:r>
            </a:p>
            <a:p>
              <a:endParaRPr lang="en-GB" sz="27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700" dirty="0">
                  <a:solidFill>
                    <a:schemeClr val="bg1"/>
                  </a:solidFill>
                </a:rPr>
                <a:t>Why Entity Embeddings?</a:t>
              </a:r>
            </a:p>
            <a:p>
              <a:r>
                <a:rPr lang="en-GB" sz="2700" dirty="0">
                  <a:solidFill>
                    <a:schemeClr val="bg1"/>
                  </a:solidFill>
                </a:rPr>
                <a:t>	High Cardinality: The dataset contains categorical variables with many unique values (e.g., 1115 Stores, 7 	Days, 12 Months).</a:t>
              </a:r>
            </a:p>
            <a:p>
              <a:endParaRPr lang="en-GB" sz="2700" dirty="0">
                <a:solidFill>
                  <a:schemeClr val="bg1"/>
                </a:solidFill>
              </a:endParaRPr>
            </a:p>
            <a:p>
              <a:r>
                <a:rPr lang="en-GB" sz="2700" dirty="0">
                  <a:solidFill>
                    <a:schemeClr val="bg1"/>
                  </a:solidFill>
                </a:rPr>
                <a:t>	Efficiency: Standard One-Hot Encoding would result in a highly sparse and computationally expensive matrix.</a:t>
              </a:r>
            </a:p>
            <a:p>
              <a:endParaRPr lang="en-GB" sz="2700" dirty="0">
                <a:solidFill>
                  <a:schemeClr val="bg1"/>
                </a:solidFill>
              </a:endParaRPr>
            </a:p>
            <a:p>
              <a:r>
                <a:rPr lang="en-GB" sz="2700" dirty="0">
                  <a:solidFill>
                    <a:schemeClr val="bg1"/>
                  </a:solidFill>
                </a:rPr>
                <a:t>	Latent Relationships: Embedding Layers allow the model to learn dense vector representations that capture 	the "personality" of each store and the relationships between temporal features (like days of the week) in a 	multi-dimensional space.</a:t>
              </a:r>
            </a:p>
            <a:p>
              <a:endParaRPr lang="en-GB" sz="2700" dirty="0">
                <a:solidFill>
                  <a:schemeClr val="bg1"/>
                </a:solidFill>
              </a:endParaRPr>
            </a:p>
            <a:p>
              <a:r>
                <a:rPr lang="en-GB" sz="2700" dirty="0">
                  <a:solidFill>
                    <a:schemeClr val="bg1"/>
                  </a:solidFill>
                </a:rPr>
                <a:t>	Framework: TensorFlow / </a:t>
              </a:r>
              <a:r>
                <a:rPr lang="en-GB" sz="2700" dirty="0" err="1">
                  <a:solidFill>
                    <a:schemeClr val="bg1"/>
                  </a:solidFill>
                </a:rPr>
                <a:t>Keras</a:t>
              </a:r>
              <a:r>
                <a:rPr lang="en-GB" sz="27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CFDFA7A-9ADB-F310-CE81-CF643A7C502D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0261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5E9C3-C962-E616-7279-1BB1C309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DBD825-7009-B0E3-43F5-85E40E39956D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6F8E0F4-3FA7-5B88-1709-CB710D60342E}"/>
              </a:ext>
            </a:extLst>
          </p:cNvPr>
          <p:cNvSpPr txBox="1"/>
          <p:nvPr/>
        </p:nvSpPr>
        <p:spPr>
          <a:xfrm>
            <a:off x="1542657" y="373606"/>
            <a:ext cx="16250651" cy="204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45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2: DEEP NEURAL NETWORK ARCHITECTURE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Network Topology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2C5200D-A504-6167-C03D-90673B437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31E1E7-7F9A-0866-3410-FCBCC501D45F}"/>
              </a:ext>
            </a:extLst>
          </p:cNvPr>
          <p:cNvGrpSpPr/>
          <p:nvPr/>
        </p:nvGrpSpPr>
        <p:grpSpPr>
          <a:xfrm>
            <a:off x="1542657" y="2034379"/>
            <a:ext cx="16354106" cy="7452522"/>
            <a:chOff x="-208456" y="-76200"/>
            <a:chExt cx="3658853" cy="22489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4016611-FE21-CB70-9430-603A0856E68E}"/>
                </a:ext>
              </a:extLst>
            </p:cNvPr>
            <p:cNvSpPr/>
            <p:nvPr/>
          </p:nvSpPr>
          <p:spPr>
            <a:xfrm>
              <a:off x="-208456" y="47915"/>
              <a:ext cx="3658853" cy="2124852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GB" sz="2500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Input Layer:</a:t>
              </a:r>
              <a:endParaRPr lang="en-GB" sz="2500" dirty="0">
                <a:solidFill>
                  <a:schemeClr val="bg1"/>
                </a:solidFill>
              </a:endParaRPr>
            </a:p>
            <a:p>
              <a:r>
                <a:rPr lang="en-GB" sz="2500" dirty="0">
                  <a:solidFill>
                    <a:schemeClr val="bg1"/>
                  </a:solidFill>
                </a:rPr>
                <a:t>	Categorical Inputs: 9 separate branches (Store, </a:t>
              </a:r>
              <a:r>
                <a:rPr lang="en-GB" sz="2500" dirty="0" err="1">
                  <a:solidFill>
                    <a:schemeClr val="bg1"/>
                  </a:solidFill>
                </a:rPr>
                <a:t>DayOfWeek</a:t>
              </a:r>
              <a:r>
                <a:rPr lang="en-GB" sz="2500" dirty="0">
                  <a:solidFill>
                    <a:schemeClr val="bg1"/>
                  </a:solidFill>
                </a:rPr>
                <a:t>, Month, etc.) feeding into 9 distinct Embedding Layers.</a:t>
              </a:r>
            </a:p>
            <a:p>
              <a:r>
                <a:rPr lang="en-GB" sz="2500" dirty="0">
                  <a:solidFill>
                    <a:schemeClr val="bg1"/>
                  </a:solidFill>
                </a:rPr>
                <a:t>	Continuous Inputs: 8 numerical variables feeding into a standard Input layer.</a:t>
              </a:r>
            </a:p>
            <a:p>
              <a:endParaRPr lang="en-GB" sz="2500" dirty="0">
                <a:solidFill>
                  <a:schemeClr val="bg1"/>
                </a:solidFill>
              </a:endParaRPr>
            </a:p>
            <a:p>
              <a:endParaRPr lang="en-GB" sz="25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7C8DDFF-F646-5BE9-B8BB-89427AFE9B97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7" name="Picture 6" descr="A diagram of a matrix&#10;&#10;AI-generated content may be incorrect.">
            <a:extLst>
              <a:ext uri="{FF2B5EF4-FFF2-40B4-BE49-F238E27FC236}">
                <a16:creationId xmlns:a16="http://schemas.microsoft.com/office/drawing/2014/main" id="{FB035EF2-43E5-D746-0143-FCAD25CFD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218" y="4675169"/>
            <a:ext cx="7239000" cy="4360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4AEA6-2DF5-B041-C305-517D0D01B5B2}"/>
              </a:ext>
            </a:extLst>
          </p:cNvPr>
          <p:cNvSpPr txBox="1"/>
          <p:nvPr/>
        </p:nvSpPr>
        <p:spPr>
          <a:xfrm>
            <a:off x="1600199" y="4838700"/>
            <a:ext cx="8756473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Embedding Layers: Vector Size Rule: Determined by the rule of thumb: min (50, </a:t>
            </a:r>
            <a:r>
              <a:rPr lang="en-US" sz="2500" u="none" strike="noStrike" spc="32" dirty="0" err="1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vocab_size</a:t>
            </a: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/2)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500" u="none" strike="noStrike" spc="32" dirty="0">
                <a:solidFill>
                  <a:srgbClr val="FFFFFF"/>
                </a:solidFill>
                <a:latin typeface="+mj-lt"/>
                <a:ea typeface="Telegraf"/>
                <a:cs typeface="Telegraf"/>
                <a:sym typeface="Telegraf"/>
              </a:rPr>
              <a:t>  Integration: Outputs are flattened and concatenated with the continuous variables.</a:t>
            </a:r>
          </a:p>
        </p:txBody>
      </p:sp>
    </p:spTree>
    <p:extLst>
      <p:ext uri="{BB962C8B-B14F-4D97-AF65-F5344CB8AC3E}">
        <p14:creationId xmlns:p14="http://schemas.microsoft.com/office/powerpoint/2010/main" val="66464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0C392-0537-14C9-B71F-864D0A72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EAD95B-EA73-0F71-A8FF-FCE9E5FCA54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5C9DDB0-2075-FA88-3EEC-404A8E836B1D}"/>
              </a:ext>
            </a:extLst>
          </p:cNvPr>
          <p:cNvSpPr txBox="1"/>
          <p:nvPr/>
        </p:nvSpPr>
        <p:spPr>
          <a:xfrm>
            <a:off x="1542657" y="373606"/>
            <a:ext cx="16250651" cy="204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45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2: DEEP NEURAL NETWORK ARCHITECTURE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Network Topology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980272B-3E62-7019-D199-899290DC0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8CE7C0-634D-764F-2A67-05BD7B2E61D4}"/>
              </a:ext>
            </a:extLst>
          </p:cNvPr>
          <p:cNvGrpSpPr/>
          <p:nvPr/>
        </p:nvGrpSpPr>
        <p:grpSpPr>
          <a:xfrm>
            <a:off x="1542657" y="2034378"/>
            <a:ext cx="16354106" cy="8252622"/>
            <a:chOff x="-208456" y="-76200"/>
            <a:chExt cx="3658853" cy="1482472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31A445D-1F40-C3E7-73A6-46C5C8EB218C}"/>
                </a:ext>
              </a:extLst>
            </p:cNvPr>
            <p:cNvSpPr/>
            <p:nvPr/>
          </p:nvSpPr>
          <p:spPr>
            <a:xfrm>
              <a:off x="-208456" y="-10467"/>
              <a:ext cx="3658853" cy="1358357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GB" sz="2500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Hidden Layers (Deep Architecture):</a:t>
              </a:r>
              <a:endParaRPr lang="en-GB" sz="2500" dirty="0">
                <a:solidFill>
                  <a:schemeClr val="bg1"/>
                </a:solidFill>
              </a:endParaRPr>
            </a:p>
            <a:p>
              <a:r>
                <a:rPr lang="en-GB" sz="2500" dirty="0">
                  <a:solidFill>
                    <a:schemeClr val="bg1"/>
                  </a:solidFill>
                </a:rPr>
                <a:t>	Layer 1: 256 Neurons + </a:t>
              </a:r>
              <a:r>
                <a:rPr lang="en-GB" sz="2500" dirty="0" err="1">
                  <a:solidFill>
                    <a:schemeClr val="bg1"/>
                  </a:solidFill>
                </a:rPr>
                <a:t>ReLU</a:t>
              </a:r>
              <a:r>
                <a:rPr lang="en-GB" sz="2500" dirty="0">
                  <a:solidFill>
                    <a:schemeClr val="bg1"/>
                  </a:solidFill>
                </a:rPr>
                <a:t> Activation.</a:t>
              </a:r>
            </a:p>
            <a:p>
              <a:r>
                <a:rPr lang="en-GB" sz="2500" dirty="0">
                  <a:solidFill>
                    <a:schemeClr val="bg1"/>
                  </a:solidFill>
                </a:rPr>
                <a:t>	Layer 2: 128 Neurons + </a:t>
              </a:r>
              <a:r>
                <a:rPr lang="en-GB" sz="2500" dirty="0" err="1">
                  <a:solidFill>
                    <a:schemeClr val="bg1"/>
                  </a:solidFill>
                </a:rPr>
                <a:t>ReLU</a:t>
              </a:r>
              <a:r>
                <a:rPr lang="en-GB" sz="2500" dirty="0">
                  <a:solidFill>
                    <a:schemeClr val="bg1"/>
                  </a:solidFill>
                </a:rPr>
                <a:t> Activation</a:t>
              </a:r>
            </a:p>
            <a:p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Regularization (Preventing Overfitting):</a:t>
              </a:r>
            </a:p>
            <a:p>
              <a:r>
                <a:rPr lang="en-GB" sz="2500" dirty="0">
                  <a:solidFill>
                    <a:schemeClr val="bg1"/>
                  </a:solidFill>
                </a:rPr>
                <a:t>	</a:t>
              </a:r>
              <a:r>
                <a:rPr lang="en-GB" sz="2500" dirty="0" err="1">
                  <a:solidFill>
                    <a:schemeClr val="bg1"/>
                  </a:solidFill>
                </a:rPr>
                <a:t>BatchNormalization</a:t>
              </a:r>
              <a:r>
                <a:rPr lang="en-GB" sz="2500" dirty="0">
                  <a:solidFill>
                    <a:schemeClr val="bg1"/>
                  </a:solidFill>
                </a:rPr>
                <a:t>: Stabilizes the learning process by normalizing inputs between layers.</a:t>
              </a:r>
            </a:p>
            <a:p>
              <a:r>
                <a:rPr lang="en-GB" sz="2500" dirty="0">
                  <a:solidFill>
                    <a:schemeClr val="bg1"/>
                  </a:solidFill>
                </a:rPr>
                <a:t>	Dropout (0.3): Randomly deactivates 30% of neurons during training to force the network to learn more robust, 	generalized features.</a:t>
              </a:r>
            </a:p>
            <a:p>
              <a:endParaRPr lang="en-GB" sz="2500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Output Layer: </a:t>
              </a:r>
              <a:r>
                <a:rPr lang="en-GB" sz="2500" dirty="0">
                  <a:solidFill>
                    <a:schemeClr val="bg1"/>
                  </a:solidFill>
                </a:rPr>
                <a:t>1 Neuron (Linear Activation) to predict the target value (Log Sales).</a:t>
              </a: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3B632D22-D93A-C17E-4144-9CFBB1CED69E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9" name="Picture 8" descr="A diagram of a flowchart">
            <a:extLst>
              <a:ext uri="{FF2B5EF4-FFF2-40B4-BE49-F238E27FC236}">
                <a16:creationId xmlns:a16="http://schemas.microsoft.com/office/drawing/2014/main" id="{D9DDB090-CEC6-6721-1C78-9BBE8F4B3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76" y="6656962"/>
            <a:ext cx="1086954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7F36-2F81-FC58-97E5-7B3447CF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C2867F-8B30-0B96-48BC-66FE6B95EEE3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8260" t="-40160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18023BD-6E82-6590-CF21-5B170D5D7047}"/>
              </a:ext>
            </a:extLst>
          </p:cNvPr>
          <p:cNvSpPr txBox="1"/>
          <p:nvPr/>
        </p:nvSpPr>
        <p:spPr>
          <a:xfrm>
            <a:off x="1552893" y="712155"/>
            <a:ext cx="16250651" cy="2042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1"/>
              </a:lnSpc>
            </a:pPr>
            <a:r>
              <a:rPr lang="en-US" sz="45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SECTION 3: RESULTS</a:t>
            </a:r>
          </a:p>
          <a:p>
            <a:pPr algn="l">
              <a:lnSpc>
                <a:spcPts val="8541"/>
              </a:lnSpc>
            </a:pPr>
            <a:r>
              <a:rPr lang="en-US" sz="4000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Kaggle Submission Results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C555FD9-EA27-014F-0E9C-9A2CEF337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1730"/>
            <a:ext cx="65" cy="238539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9044" rIns="0" bIns="-1904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29CDF0-266A-A974-00E6-26DD54E0FB41}"/>
              </a:ext>
            </a:extLst>
          </p:cNvPr>
          <p:cNvGrpSpPr/>
          <p:nvPr/>
        </p:nvGrpSpPr>
        <p:grpSpPr>
          <a:xfrm>
            <a:off x="1552894" y="2465135"/>
            <a:ext cx="16250651" cy="7109710"/>
            <a:chOff x="-208456" y="-76200"/>
            <a:chExt cx="3658853" cy="2248967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3273FCF-18B4-ECCE-E3D3-39909D27A62B}"/>
                </a:ext>
              </a:extLst>
            </p:cNvPr>
            <p:cNvSpPr/>
            <p:nvPr/>
          </p:nvSpPr>
          <p:spPr>
            <a:xfrm>
              <a:off x="-208456" y="47915"/>
              <a:ext cx="3658853" cy="2124852"/>
            </a:xfrm>
            <a:custGeom>
              <a:avLst/>
              <a:gdLst/>
              <a:ahLst/>
              <a:cxnLst/>
              <a:rect l="l" t="t" r="r" b="b"/>
              <a:pathLst>
                <a:path w="3416716" h="1406272">
                  <a:moveTo>
                    <a:pt x="0" y="0"/>
                  </a:moveTo>
                  <a:lnTo>
                    <a:pt x="3416716" y="0"/>
                  </a:lnTo>
                  <a:lnTo>
                    <a:pt x="3416716" y="1406272"/>
                  </a:lnTo>
                  <a:lnTo>
                    <a:pt x="0" y="1406272"/>
                  </a:ln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  <a:ln w="38100" cap="sq">
              <a:gradFill>
                <a:gsLst>
                  <a:gs pos="0">
                    <a:srgbClr val="10A5FF">
                      <a:alpha val="100000"/>
                    </a:srgbClr>
                  </a:gs>
                  <a:gs pos="100000">
                    <a:srgbClr val="041E4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b="1" dirty="0">
                <a:solidFill>
                  <a:schemeClr val="bg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Evaluation Metric: RMSPE (Root Mean Square Percentage Error).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2500" b="1" dirty="0">
                  <a:solidFill>
                    <a:schemeClr val="bg1"/>
                  </a:solidFill>
                </a:rPr>
                <a:t>Achieved Score: 0.11718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25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D4787664-7A3D-3973-1790-6E7B56951651}"/>
                </a:ext>
              </a:extLst>
            </p:cNvPr>
            <p:cNvSpPr txBox="1"/>
            <p:nvPr/>
          </p:nvSpPr>
          <p:spPr>
            <a:xfrm>
              <a:off x="0" y="-76200"/>
              <a:ext cx="3416716" cy="1482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DA43005-41D8-3467-73C1-359A27BB8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95" y="4326599"/>
            <a:ext cx="1187933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9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933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Telegraf</vt:lpstr>
      <vt:lpstr>Google Sans Text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 technological artificial intelligence project presentation</dc:title>
  <dc:creator>Pham, Quinn</dc:creator>
  <cp:lastModifiedBy>Luna Lovegood</cp:lastModifiedBy>
  <cp:revision>39</cp:revision>
  <dcterms:created xsi:type="dcterms:W3CDTF">2006-08-16T00:00:00Z</dcterms:created>
  <dcterms:modified xsi:type="dcterms:W3CDTF">2025-12-09T20:12:59Z</dcterms:modified>
  <dc:identifier>DAG6xhRWo6U</dc:identifier>
</cp:coreProperties>
</file>